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C3669-8899-68F4-2B99-A79DB96D2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3A933A-791F-E0C3-FC5B-DBAC907C77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F07917-DCE7-C663-831E-FB25860FD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20763-E342-449E-AD6C-A0074DDABCC8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87FEE5-F5A1-732F-CD84-D3CD737C8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0C64D2-050C-709B-EBD5-2E94E2CEA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A0DE0-5BA3-4EC1-958D-504B010FD1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9351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57B1C-3980-E1EF-39C2-6494D5824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E730B3-76E5-4AB4-C667-08B613C65B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105C13-F500-88F5-8FB7-9D6273538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20763-E342-449E-AD6C-A0074DDABCC8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AEC675-F26D-5F40-3B1B-7D1170073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376418-8074-79B5-ABB1-06EA52378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A0DE0-5BA3-4EC1-958D-504B010FD1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5615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D4ED9-2D4B-9415-3E23-0FCD1CAE6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599A73-06F6-0339-7397-390AA9284C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075FFC-9A0D-109D-F320-46C76F665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20763-E342-449E-AD6C-A0074DDABCC8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BF0CCD-85CD-688F-FFC8-B303F8A0D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617531-58A9-D142-DA8B-741301345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A0DE0-5BA3-4EC1-958D-504B010FD1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5807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8D33F-66DD-1941-B5C1-EF3F310B7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3D636-A2A7-FB52-A298-A987305814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CFB24C-869A-21C9-E902-DFD23256F4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E4A288-211A-F5B8-0974-B688FF7FE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20763-E342-449E-AD6C-A0074DDABCC8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A5C4B3-A425-792B-92AB-40A8A5D82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C17A97-84EA-7870-E5F8-A7E0AA7E8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A0DE0-5BA3-4EC1-958D-504B010FD1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6375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7C1DF-3B88-7050-953B-D12721480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2BEF7B-A681-6D37-7B69-D57B68F411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1113A1-0435-FE59-F746-DDB4280AD1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653391-9C31-49FA-E3DA-20BE7F01EF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ADDA9C-C01D-3A0A-E40A-A5905D7E23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F27F62-AF2A-C813-2F1E-183DF0481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20763-E342-449E-AD6C-A0074DDABCC8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1C429B-7091-BFE3-1A98-D4C36275E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606BE2-F3A3-C319-EF75-E63092C57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A0DE0-5BA3-4EC1-958D-504B010FD1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5552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23B3F-8FD0-6C6C-E027-FD9D6B07E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56CB6C-99AE-49A4-A98D-65D60709A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20763-E342-449E-AD6C-A0074DDABCC8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66700B-6E46-FEA2-9D94-FDDB06ADA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193956-D187-81A8-3B79-A74D54037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A0DE0-5BA3-4EC1-958D-504B010FD1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3081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EB68AE-F436-7147-CD3E-4D25C6E3E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20763-E342-449E-AD6C-A0074DDABCC8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D9F6A1-1E06-C39D-73AB-1280F3588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9F4CF9-28C0-B9D3-E46D-C2813607A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A0DE0-5BA3-4EC1-958D-504B010FD1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7707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0DD88-E2B7-2C7C-5211-D93700B65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1FF4B1-8DFA-8132-1678-BA9BD63C35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56BA6E-212C-B9F2-1ED4-B14C064569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25D896-B57C-248B-2085-8F40DF14D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20763-E342-449E-AD6C-A0074DDABCC8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6F8E97-8554-3566-A8D3-2C63E285C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AAFD9E-5D53-2E48-307D-FD4E9D002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A0DE0-5BA3-4EC1-958D-504B010FD1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5837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C341F-76BC-F912-A75F-77293118C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502B78-CB37-BEE5-CA0F-A6C7D90E75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454841-2611-BA47-7545-6A0EC99FA3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134D1E-2102-9DBF-D8AB-0E1A122E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20763-E342-449E-AD6C-A0074DDABCC8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8396FF-EEE9-977B-6FF2-2CEAB66CB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80C88E-49E9-15A8-C54B-356C47554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A0DE0-5BA3-4EC1-958D-504B010FD1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5328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D95C1-E171-3324-A696-0A5CD35AA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346395-0A93-9486-1638-EACF146BB2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F7727-B661-01CF-3673-2EED231B2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20763-E342-449E-AD6C-A0074DDABCC8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EE08EB-3CD8-3F96-2E9F-3BFCBEDA7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BE54FD-B0A4-890B-6B58-3379122C8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A0DE0-5BA3-4EC1-958D-504B010FD1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7609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3EB0E8-2119-6AA1-9761-3DDFEF62C4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08A93B-C49A-7AA2-EEF4-19FF5B96C1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AB3F7C-CF45-3F6A-4A86-26ED4457A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20763-E342-449E-AD6C-A0074DDABCC8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108257-E7CB-57FD-E256-5CB893323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0CF58B-D2CF-4925-46CD-8E3711FF8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A0DE0-5BA3-4EC1-958D-504B010FD1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4047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87BA9D-9A55-C4BD-2B58-3769E550F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6B9ED4-84FF-A749-DEE5-78766206CA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F5E97E-235A-114D-7CCF-72FA5D99CD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F20763-E342-449E-AD6C-A0074DDABCC8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E60398-1E10-1F7D-8A08-BEDEAA8104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54E03B-39A2-B963-0020-92A190422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AA0DE0-5BA3-4EC1-958D-504B010FD1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1948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9E447-AEDD-5633-FE9B-320164C097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5677" y="630750"/>
            <a:ext cx="9144000" cy="1655762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Signal Processing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ECA0908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570002-13B1-D337-E8CF-B78ABD7F80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082668"/>
            <a:ext cx="9144000" cy="2553929"/>
          </a:xfrm>
        </p:spPr>
        <p:txBody>
          <a:bodyPr/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 ANALYSIS TASK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Thilak (192412666)</a:t>
            </a:r>
          </a:p>
        </p:txBody>
      </p:sp>
    </p:spTree>
    <p:extLst>
      <p:ext uri="{BB962C8B-B14F-4D97-AF65-F5344CB8AC3E}">
        <p14:creationId xmlns:p14="http://schemas.microsoft.com/office/powerpoint/2010/main" val="8043591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AE320-858E-F17B-6F1B-785209F1B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decimation routine removes every second sample although the decimation factor is 5.Using the input sequence [1,2,3,...,20], determine the incorrect and correct outputs.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5AA5EB-6AB8-9CC8-7DB3-3CC3DA97C4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192593"/>
                <a:ext cx="10515600" cy="3984369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Problem Statement</a:t>
                </a:r>
              </a:p>
              <a:p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decimation routine is designed with a decimation factor of 5, but due to an implementation error it removes every second sample instead of every fifth sample.</a:t>
                </a: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 Sequence:</a:t>
                </a:r>
              </a:p>
              <a:p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IN" b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sepChr m:val=","/>
                        <m:ctrlPr>
                          <a:rPr lang="en-IN" b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e>
                        <m:r>
                          <a:rPr lang="en-IN" b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e>
                        <m:r>
                          <a:rPr lang="en-IN" b="0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e>
                        <m:r>
                          <a:rPr lang="en-IN" b="0" smtClean="0"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  <m:e>
                        <m:r>
                          <a:rPr lang="en-IN" b="0" smtClean="0">
                            <a:latin typeface="Cambria Math" panose="02040503050406030204" pitchFamily="18" charset="0"/>
                          </a:rPr>
                          <m:t>20</m:t>
                        </m:r>
                      </m:e>
                    </m:d>
                  </m:oMath>
                </a14:m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5AA5EB-6AB8-9CC8-7DB3-3CC3DA97C4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192593"/>
                <a:ext cx="10515600" cy="3984369"/>
              </a:xfrm>
              <a:blipFill>
                <a:blip r:embed="rId2"/>
                <a:stretch>
                  <a:fillRect l="-1217" t="-275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277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087F0-CB86-1100-721C-6B95ED870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Incorrect Decimation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751AF5-2947-8807-B443-0D008E0920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Actual decimation factor used: </a:t>
                </a: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lvl="0"/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Every second sample is retained. </a:t>
                </a:r>
              </a:p>
              <a:p>
                <a:pPr lvl="0"/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Output sequence: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𝑤𝑟𝑜𝑛𝑔</m:t>
                        </m:r>
                      </m:sub>
                    </m:sSub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sepChr m:val=","/>
                        <m:ctrlPr>
                          <a:rPr lang="en-IN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e>
                        <m:r>
                          <a:rPr lang="en-IN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e>
                        <m:r>
                          <a:rPr lang="en-IN"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e>
                        <m:r>
                          <a:rPr lang="en-IN">
                            <a:latin typeface="Cambria Math" panose="02040503050406030204" pitchFamily="18" charset="0"/>
                          </a:rPr>
                          <m:t>7</m:t>
                        </m:r>
                      </m:e>
                      <m:e>
                        <m:r>
                          <a:rPr lang="en-IN"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e>
                        <m:r>
                          <a:rPr lang="en-IN">
                            <a:latin typeface="Cambria Math" panose="02040503050406030204" pitchFamily="18" charset="0"/>
                          </a:rPr>
                          <m:t>11</m:t>
                        </m:r>
                      </m:e>
                      <m:e>
                        <m:r>
                          <a:rPr lang="en-IN">
                            <a:latin typeface="Cambria Math" panose="02040503050406030204" pitchFamily="18" charset="0"/>
                          </a:rPr>
                          <m:t>13</m:t>
                        </m:r>
                      </m:e>
                      <m:e>
                        <m:r>
                          <a:rPr lang="en-IN"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e>
                        <m:r>
                          <a:rPr lang="en-IN">
                            <a:latin typeface="Cambria Math" panose="02040503050406030204" pitchFamily="18" charset="0"/>
                          </a:rPr>
                          <m:t>17</m:t>
                        </m:r>
                      </m:e>
                      <m:e>
                        <m:r>
                          <a:rPr lang="en-IN">
                            <a:latin typeface="Cambria Math" panose="02040503050406030204" pitchFamily="18" charset="0"/>
                          </a:rPr>
                          <m:t>19</m:t>
                        </m:r>
                      </m:e>
                    </m:d>
                  </m:oMath>
                </a14:m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751AF5-2947-8807-B443-0D008E0920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7401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10455-0071-C80E-EFBF-CEAFF800D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223" y="700791"/>
            <a:ext cx="105156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 Decimation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5C0364-9A67-712F-817A-BC8711F8708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00246" y="2311762"/>
                <a:ext cx="10515600" cy="3001018"/>
              </a:xfrm>
            </p:spPr>
            <p:txBody>
              <a:bodyPr/>
              <a:lstStyle/>
              <a:p>
                <a:pPr lvl="0"/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Required decimation factor: </a:t>
                </a: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lvl="0"/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Every fifth sample is retained. </a:t>
                </a:r>
              </a:p>
              <a:p>
                <a:pPr lvl="0"/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Output sequence: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𝑐𝑜𝑟𝑟𝑒𝑐𝑡</m:t>
                        </m:r>
                      </m:sub>
                    </m:sSub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sepChr m:val=","/>
                        <m:ctrlPr>
                          <a:rPr lang="en-IN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e>
                        <m:r>
                          <a:rPr lang="en-IN"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e>
                        <m:r>
                          <a:rPr lang="en-IN">
                            <a:latin typeface="Cambria Math" panose="02040503050406030204" pitchFamily="18" charset="0"/>
                          </a:rPr>
                          <m:t>11</m:t>
                        </m:r>
                      </m:e>
                      <m:e>
                        <m:r>
                          <a:rPr lang="en-IN">
                            <a:latin typeface="Cambria Math" panose="02040503050406030204" pitchFamily="18" charset="0"/>
                          </a:rPr>
                          <m:t>16</m:t>
                        </m:r>
                      </m:e>
                    </m:d>
                  </m:oMath>
                </a14:m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5C0364-9A67-712F-817A-BC8711F870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00246" y="2311762"/>
                <a:ext cx="10515600" cy="3001018"/>
              </a:xfrm>
              <a:blipFill>
                <a:blip r:embed="rId2"/>
                <a:stretch>
                  <a:fillRect l="-1043" t="-344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8043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285DF-CE89-B7C9-9069-EA2261CCC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FB92DC0-2DA6-8FF6-8144-30D2D74C0D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0818184"/>
              </p:ext>
            </p:extLst>
          </p:nvPr>
        </p:nvGraphicFramePr>
        <p:xfrm>
          <a:off x="1798899" y="2227267"/>
          <a:ext cx="9000282" cy="10058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500141">
                  <a:extLst>
                    <a:ext uri="{9D8B030D-6E8A-4147-A177-3AD203B41FA5}">
                      <a16:colId xmlns:a16="http://schemas.microsoft.com/office/drawing/2014/main" val="3462466724"/>
                    </a:ext>
                  </a:extLst>
                </a:gridCol>
                <a:gridCol w="4500141">
                  <a:extLst>
                    <a:ext uri="{9D8B030D-6E8A-4147-A177-3AD203B41FA5}">
                      <a16:colId xmlns:a16="http://schemas.microsoft.com/office/drawing/2014/main" val="34921500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Incorrect Output (D = 2)</a:t>
                      </a:r>
                    </a:p>
                    <a:p>
                      <a:pPr>
                        <a:buNone/>
                      </a:pPr>
                      <a:endParaRPr lang="en-IN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[1,3,5,7,9,11,13,15,17,19]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Correct Output (D = 5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pPr>
                        <a:buNone/>
                      </a:pP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[1,6,11,16]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6681385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19B2181-31B7-9A80-F66B-670B020C14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3749737"/>
              </p:ext>
            </p:extLst>
          </p:nvPr>
        </p:nvGraphicFramePr>
        <p:xfrm>
          <a:off x="838200" y="4630733"/>
          <a:ext cx="10515600" cy="3657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28749231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79604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41558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B3065-4D47-DBF3-777E-168941971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A843A-B252-033D-EAF1-850D6AD4E6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Incorrect routine retains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samples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 routine retains only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samples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sampling-rate reduction is not achieved as intended when the wrong decimation factor is used.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56233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FE8F6-7F20-A2E8-7992-E42510B45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DDE0163-D04F-6CFC-60F0-1976A8B637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50535" y="1823295"/>
            <a:ext cx="5464013" cy="3985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0944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181F-D0C4-FCD3-F506-3B1F29884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dirty="0"/>
              <a:t> 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C4457B2-AF30-5062-930E-47793D55CE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03443" y="1891882"/>
            <a:ext cx="5387807" cy="3848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5463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EE600-56D6-21BE-6CAA-EBA6407E2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A1592B4-3218-5DDF-95BC-F060FE32A7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routine incorrectly performs </a:t>
                </a: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decimation by 2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instead of </a:t>
                </a: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decimation by 5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Therefore, the correct decimated output for the given input sequence is:</a:t>
                </a:r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borderBoxPr>
                      <m:e>
                        <m:d>
                          <m:dPr>
                            <m:begChr m:val="["/>
                            <m:endChr m:val="]"/>
                            <m:sepChr m:val=","/>
                            <m:ctrlPr>
                              <a:rPr lang="en-IN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e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11</m:t>
                            </m:r>
                          </m:e>
                          <m:e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16</m:t>
                            </m:r>
                          </m:e>
                        </m:d>
                      </m:e>
                    </m:borderBox>
                  </m:oMath>
                </a14:m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Inference: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Proper implementation of the decimation factor is essential to obtain the desired reduction in sampling rate and avoid processing errors.</a:t>
                </a:r>
              </a:p>
              <a:p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A1592B4-3218-5DDF-95BC-F060FE32A7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1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92171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228</Words>
  <Application>Microsoft Office PowerPoint</Application>
  <PresentationFormat>Widescreen</PresentationFormat>
  <Paragraphs>37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Cambria Math</vt:lpstr>
      <vt:lpstr>Times New Roman</vt:lpstr>
      <vt:lpstr>Office Theme</vt:lpstr>
      <vt:lpstr>Digital Signal Processing ECA0908</vt:lpstr>
      <vt:lpstr>A decimation routine removes every second sample although the decimation factor is 5.Using the input sequence [1,2,3,...,20], determine the incorrect and correct outputs.</vt:lpstr>
      <vt:lpstr>Incorrect Decimation </vt:lpstr>
      <vt:lpstr>Correct Decimation </vt:lpstr>
      <vt:lpstr>Comparison</vt:lpstr>
      <vt:lpstr>Observation </vt:lpstr>
      <vt:lpstr>Coding</vt:lpstr>
      <vt:lpstr>Output 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MONISHA S</dc:creator>
  <cp:lastModifiedBy>MONISHA S</cp:lastModifiedBy>
  <cp:revision>3</cp:revision>
  <dcterms:created xsi:type="dcterms:W3CDTF">2026-08-04T15:53:54Z</dcterms:created>
  <dcterms:modified xsi:type="dcterms:W3CDTF">2026-08-14T03:47:41Z</dcterms:modified>
</cp:coreProperties>
</file>